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Good morning respected examiners. I am presenting my final year cybersecurity project: the Lab Face-Verified Access Lock System. This project introduces zero-trust continuous session verification to protect academic computer laboratories from proxy attendance, session abandonment, and terminal hijacking.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Traditional security only checks identity once at login. In a college lab, students share passwords to fake attendance, and when someone walks away from an open PC, anyone can sit down and tamper with code or exam portals. We need continuous verification, not just login-time checks.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Our objectives were to eliminate proxy logins via 3-factor authentication, stop session hijacking through continuous 30-second verification, isolate encryption keys in the host OS Keyring, and build an immutable, tamper-evident audit ledger using SHA-256 hash chains.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Existing systems like RFID cards, smart cards, and single-point biometric gates only protect the door. Once a student is at the PC, there is zero continuous defense. Commercial systems like Windows Hello require expensive proprietary depth cameras. Our system works on standard commodity webcams using open-source Python security primitives.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We treat every 30 seconds as a new authentication event. The system verifies that the authorized student is still seated at the PC. We store zero photos or videos on disk—only mathematical 128-dimensional vectors that are Fernet-encrypted before reaching SQLite, complying with India's DPDP Act.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our client-server architecture. Edge lab PCs talk to a central FastAPI server over TLS. Each PC has its own provisioned device ID and 24-hour signed JWT bearer token. Biometrics are encrypted with Fernet AES-128, and the master key is kept in the host OS Keyring, eliminating hardcoded keys (CWE-798).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This is our single most important architectural slide: defense-in-depth across five composable layers. If one factor has a physical limitation, the other layers catch it. For example, if an identical twin attempts login, they cannot bypass the physical smartphone TOTP factor. If someone steals the database, they cannot decrypt biometrics without the OS Keyring key.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Authentication executes in strict order: Roll number claim, facial verification against the decrypted vector, 6-digit TOTP code, and the randomized challenge. Crucially, the face performing the blink or turn challenge is confirmed to be the enrolled student on the passing frame, defeating video swap attacks.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Continuous verification evaluates presence every 30 seconds. If a student looks away briefly, the grace period avoids nuisance locks. But after 60 seconds of absence or if a different face sits down, the system immediately locks the Windows desktop. If the network drops, the system fails closed to prevent attackers from pulling cables to stay logged 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Standard SQL databases allow rogue administrators to alter logs unnoticed. In our system, each log entry is cryptographically linked to the previous entry via SHA-256. If someone tampers with even one confidence score in SQLite, the entire hash chain breaks at that exact ID, giving us mathematical proof of tampering.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Our schema comprises three normalized tables: students, devices, and logs. The students table stores only Fernet-encrypted ciphertext vectors. The devices table manages machine authorization. The logs table stores the cryptographic hash chain with previous_hash and entry_hash.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We verified the entire system through an automated integration test suite covering 9 defense-in-depth vectors with a 100% pass rate. We verified cryptographic parity, expired token rejection, and simulated a rogue SQL update that was immediately caught by our hash chain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our live demonstration workflow: student onboarding, three-factor login with liveness challenge, continuous background verification logging confidence scores, automatic screen locking when the user steps away, and the cryptographic log audit verifying chain integrity.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We are honest about our technical limitations. Standard 2D cameras cannot defeat custom 3D silicone masks, which is why hardware infrared depth sensors like Intel RealSense are our top future recommendation. We also plan to anchor hash chain digests to external RFC 3161 timestamping authorities.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In conclusion, our project proves that institutional computer labs can achieve enterprise-grade multi-factor authentication, continuous session governance, and cryptographic non-repudiation using commodity hardware. Thank you, respected examiners. I am now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828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097280"/>
            <a:ext cx="9448495" cy="4572000"/>
          </a:xfrm>
          <a:prstGeom prst="round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731520" tIns="731520"/>
          <a:lstStyle/>
          <a:p>
            <a:pPr algn="ctr">
              <a:defRPr sz="1400" b="1">
                <a:solidFill>
                  <a:srgbClr val="38BDF8"/>
                </a:solidFill>
              </a:defRPr>
            </a:pPr>
            <a:r>
              <a:t>FINAL YEAR B.TECH CYBERSECURITY PROJECT DEFENSE</a:t>
            </a:r>
          </a:p>
          <a:p>
            <a:pPr>
              <a:defRPr sz="3600" b="1">
                <a:solidFill>
                  <a:srgbClr val="F1F5F9"/>
                </a:solidFill>
              </a:defRPr>
            </a:pPr>
            <a:r>
              <a:t>Lab Face-Verified Access Lock System</a:t>
            </a:r>
          </a:p>
          <a:p>
            <a:pPr>
              <a:defRPr sz="1800">
                <a:solidFill>
                  <a:srgbClr val="94A3B8"/>
                </a:solidFill>
              </a:defRPr>
            </a:pPr>
            <a:r>
              <a:t>Continuous Biometric &amp; Multi-Factor Authentication for Institutional Laboratories</a:t>
            </a:r>
            <a:br/>
            <a:br/>
            <a:r>
              <a:t>Candidate: Shinde Dipak (B.Tech Final Year, Cybersecurity)</a:t>
            </a:r>
            <a:br/>
            <a:r>
              <a:t>Guide: Faculty Project Guide | TKIET Warananagar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00584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100" b="1">
                <a:solidFill>
                  <a:srgbClr val="38BDF8"/>
                </a:solidFill>
              </a:defRPr>
            </a:pPr>
            <a:r>
              <a:t>SLIDE 02 | LAB ACCESS LOCK SYSTEM</a:t>
            </a:r>
          </a:p>
          <a:p>
            <a:pPr>
              <a:defRPr sz="2200" b="1">
                <a:solidFill>
                  <a:srgbClr val="F1F5F9"/>
                </a:solidFill>
              </a:defRPr>
            </a:pPr>
            <a:r>
              <a:t>Problem Statement</a:t>
            </a:r>
          </a:p>
        </p:txBody>
      </p:sp>
      <p:sp>
        <p:nvSpPr>
          <p:cNvPr id="4" name="Rounded Rectangle 3"/>
          <p:cNvSpPr/>
          <p:nvPr/>
        </p:nvSpPr>
        <p:spPr>
          <a:xfrm>
            <a:off x="731520" y="1645920"/>
            <a:ext cx="7132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200"/>
              </a:spcAft>
              <a:defRPr sz="1500">
                <a:solidFill>
                  <a:srgbClr val="F1F5F9"/>
                </a:solidFill>
              </a:defRPr>
            </a:pPr>
            <a:r>
              <a:t>•  Credential Sharing &amp; Proxy Attendance: Students routinely share passwords or RFID cards to fake lab attendance and submit assignments for peers.</a:t>
            </a:r>
          </a:p>
          <a:p>
            <a:pPr>
              <a:spcAft>
                <a:spcPts val="1200"/>
              </a:spcAft>
              <a:defRPr sz="1500">
                <a:solidFill>
                  <a:srgbClr val="F1F5F9"/>
                </a:solidFill>
              </a:defRPr>
            </a:pPr>
            <a:r>
              <a:t>•  Unattended Terminal Hijacking: After legitimate login, students walk away, leaving workstations unlocked for 10-15 minutes until screensavers activate.</a:t>
            </a:r>
          </a:p>
          <a:p>
            <a:pPr>
              <a:spcAft>
                <a:spcPts val="1200"/>
              </a:spcAft>
              <a:defRPr sz="1500">
                <a:solidFill>
                  <a:srgbClr val="F1F5F9"/>
                </a:solidFill>
              </a:defRPr>
            </a:pPr>
            <a:r>
              <a:t>•  Zero Post-Login Defense: Traditional access controls authenticate once at login and remain completely blind to whoever is operating the machine afterward.</a:t>
            </a:r>
          </a:p>
          <a:p>
            <a:pPr>
              <a:spcAft>
                <a:spcPts val="1200"/>
              </a:spcAft>
              <a:defRPr sz="1500">
                <a:solidFill>
                  <a:srgbClr val="F1F5F9"/>
                </a:solidFill>
              </a:defRPr>
            </a:pPr>
            <a:r>
              <a:t>•  Physical Impersonation: Unauthorized peers or intruders can manipulate open sessions with full student privileges undetected.</a:t>
            </a:r>
          </a:p>
        </p:txBody>
      </p:sp>
      <p:sp>
        <p:nvSpPr>
          <p:cNvPr id="5" name="Rounded Rectangle 4"/>
          <p:cNvSpPr/>
          <p:nvPr/>
        </p:nvSpPr>
        <p:spPr>
          <a:xfrm>
            <a:off x="8046720" y="1645920"/>
            <a:ext cx="3413455" cy="4572000"/>
          </a:xfrm>
          <a:prstGeom prst="roundRect">
            <a:avLst/>
          </a:prstGeom>
          <a:solidFill>
            <a:srgbClr val="1820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200" b="1">
                <a:solidFill>
                  <a:srgbClr val="38BDF8"/>
                </a:solidFill>
              </a:defRPr>
            </a:pPr>
            <a:r>
              <a:t>VISUAL EVIDENCE</a:t>
            </a:r>
          </a:p>
          <a:p>
            <a:pPr>
              <a:spcBef>
                <a:spcPts val="2000"/>
              </a:spcBef>
              <a:defRPr sz="1400">
                <a:solidFill>
                  <a:srgbClr val="4ADE80"/>
                </a:solidFill>
              </a:defRPr>
            </a:pPr>
            <a:r>
              <a:t>[DIAGRAM: The 15-Minute Vulnerability Window in Shared Labs]</a:t>
            </a:r>
          </a:p>
          <a:p>
            <a:pPr>
              <a:spcBef>
                <a:spcPts val="3000"/>
              </a:spcBef>
              <a:defRPr sz="1200">
                <a:solidFill>
                  <a:srgbClr val="94A3B8"/>
                </a:solidFill>
              </a:defRPr>
            </a:pPr>
            <a:r>
              <a:t>Key Artifact:</a:t>
            </a:r>
            <a:br/>
            <a:r>
              <a:t>Report Ch. 2</a:t>
            </a:r>
            <a:br/>
            <a:r>
              <a:t>Status: Verified PASS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00584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100" b="1">
                <a:solidFill>
                  <a:srgbClr val="38BDF8"/>
                </a:solidFill>
              </a:defRPr>
            </a:pPr>
            <a:r>
              <a:t>SLIDE 03 | LAB ACCESS LOCK SYSTEM</a:t>
            </a:r>
          </a:p>
          <a:p>
            <a:pPr>
              <a:defRPr sz="2200" b="1">
                <a:solidFill>
                  <a:srgbClr val="F1F5F9"/>
                </a:solidFill>
              </a:defRPr>
            </a:pPr>
            <a:r>
              <a:t>Project Objectives</a:t>
            </a:r>
          </a:p>
        </p:txBody>
      </p:sp>
      <p:sp>
        <p:nvSpPr>
          <p:cNvPr id="4" name="Rounded Rectangle 3"/>
          <p:cNvSpPr/>
          <p:nvPr/>
        </p:nvSpPr>
        <p:spPr>
          <a:xfrm>
            <a:off x="731520" y="1645920"/>
            <a:ext cx="7132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200"/>
              </a:spcAft>
              <a:defRPr sz="1500">
                <a:solidFill>
                  <a:srgbClr val="F1F5F9"/>
                </a:solidFill>
              </a:defRPr>
            </a:pPr>
            <a:r>
              <a:t>•  Enforce 3-Factor Authentication: Sequentially bind Identity Claim (Roll Number), Biometric Inherence (Face Match), and Physical Possession (RFC 6238 TOTP).</a:t>
            </a:r>
          </a:p>
          <a:p>
            <a:pPr>
              <a:spcAft>
                <a:spcPts val="1200"/>
              </a:spcAft>
              <a:defRPr sz="1500">
                <a:solidFill>
                  <a:srgbClr val="F1F5F9"/>
                </a:solidFill>
              </a:defRPr>
            </a:pPr>
            <a:r>
              <a:t>•  Continuous Session Governance: Deploy a lightweight background daemon evaluating user presence and facial similarity every 30 seconds.</a:t>
            </a:r>
          </a:p>
          <a:p>
            <a:pPr>
              <a:spcAft>
                <a:spcPts val="1200"/>
              </a:spcAft>
              <a:defRPr sz="1500">
                <a:solidFill>
                  <a:srgbClr val="F1F5F9"/>
                </a:solidFill>
              </a:defRPr>
            </a:pPr>
            <a:r>
              <a:t>•  Fail-Closed Workstation Lockdown: Automatically engage OS-level screen locks within 60s of student absence or immediately upon face mismatch.</a:t>
            </a:r>
          </a:p>
          <a:p>
            <a:pPr>
              <a:spcAft>
                <a:spcPts val="1200"/>
              </a:spcAft>
              <a:defRPr sz="1500">
                <a:solidFill>
                  <a:srgbClr val="F1F5F9"/>
                </a:solidFill>
              </a:defRPr>
            </a:pPr>
            <a:r>
              <a:t>•  Cryptographic Defense-in-Depth: Enforce Fernet AES-128 encryption at rest with OS Keyring isolation, TLS transport security, and SHA-256 hash-chained audit logging.</a:t>
            </a:r>
          </a:p>
        </p:txBody>
      </p:sp>
      <p:sp>
        <p:nvSpPr>
          <p:cNvPr id="5" name="Rounded Rectangle 4"/>
          <p:cNvSpPr/>
          <p:nvPr/>
        </p:nvSpPr>
        <p:spPr>
          <a:xfrm>
            <a:off x="8046720" y="1645920"/>
            <a:ext cx="3413455" cy="4572000"/>
          </a:xfrm>
          <a:prstGeom prst="roundRect">
            <a:avLst/>
          </a:prstGeom>
          <a:solidFill>
            <a:srgbClr val="1820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200" b="1">
                <a:solidFill>
                  <a:srgbClr val="38BDF8"/>
                </a:solidFill>
              </a:defRPr>
            </a:pPr>
            <a:r>
              <a:t>VISUAL EVIDENCE</a:t>
            </a:r>
          </a:p>
          <a:p>
            <a:pPr>
              <a:spcBef>
                <a:spcPts val="2000"/>
              </a:spcBef>
              <a:defRPr sz="1400">
                <a:solidFill>
                  <a:srgbClr val="4ADE80"/>
                </a:solidFill>
              </a:defRPr>
            </a:pPr>
            <a:r>
              <a:t>[ICON GRID: 3-Factor Gate -&gt; 30s Continuous Check -&gt; OS Auto-Lock -&gt; Hash Chain]</a:t>
            </a:r>
          </a:p>
          <a:p>
            <a:pPr>
              <a:spcBef>
                <a:spcPts val="3000"/>
              </a:spcBef>
              <a:defRPr sz="1200">
                <a:solidFill>
                  <a:srgbClr val="94A3B8"/>
                </a:solidFill>
              </a:defRPr>
            </a:pPr>
            <a:r>
              <a:t>Key Artifact:</a:t>
            </a:r>
            <a:br/>
            <a:r>
              <a:t>Report Ch. 3</a:t>
            </a:r>
            <a:br/>
            <a:r>
              <a:t>Status: Verified PASS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00584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100" b="1">
                <a:solidFill>
                  <a:srgbClr val="38BDF8"/>
                </a:solidFill>
              </a:defRPr>
            </a:pPr>
            <a:r>
              <a:t>SLIDE 04 | LAB ACCESS LOCK SYSTEM</a:t>
            </a:r>
          </a:p>
          <a:p>
            <a:pPr>
              <a:defRPr sz="2200" b="1">
                <a:solidFill>
                  <a:srgbClr val="F1F5F9"/>
                </a:solidFill>
              </a:defRPr>
            </a:pPr>
            <a:r>
              <a:t>Existing Systems vs. Proposed Gap</a:t>
            </a:r>
          </a:p>
        </p:txBody>
      </p:sp>
      <p:sp>
        <p:nvSpPr>
          <p:cNvPr id="4" name="Rounded Rectangle 3"/>
          <p:cNvSpPr/>
          <p:nvPr/>
        </p:nvSpPr>
        <p:spPr>
          <a:xfrm>
            <a:off x="731520" y="1645920"/>
            <a:ext cx="7132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200"/>
              </a:spcAft>
              <a:defRPr sz="1500">
                <a:solidFill>
                  <a:srgbClr val="F1F5F9"/>
                </a:solidFill>
              </a:defRPr>
            </a:pPr>
            <a:r>
              <a:t>•  Password / Smart Card Systems: High credential sharing; zero inherence guarantee; cannot detect user departure after login.</a:t>
            </a:r>
          </a:p>
          <a:p>
            <a:pPr>
              <a:spcAft>
                <a:spcPts val="1200"/>
              </a:spcAft>
              <a:defRPr sz="1500">
                <a:solidFill>
                  <a:srgbClr val="F1F5F9"/>
                </a:solidFill>
              </a:defRPr>
            </a:pPr>
            <a:r>
              <a:t>•  Commercial Biometric Turnstiles: Single-point entry gates; costly specialized hardware; terminal remains unattended and vulnerable after entry.</a:t>
            </a:r>
          </a:p>
          <a:p>
            <a:pPr>
              <a:spcAft>
                <a:spcPts val="1200"/>
              </a:spcAft>
              <a:defRPr sz="1500">
                <a:solidFill>
                  <a:srgbClr val="F1F5F9"/>
                </a:solidFill>
              </a:defRPr>
            </a:pPr>
            <a:r>
              <a:t>•  Windows Hello / Active Directory: Requires proprietary infrared depth sensors; lack continuous background verification on commodity webcams.</a:t>
            </a:r>
          </a:p>
          <a:p>
            <a:pPr>
              <a:spcAft>
                <a:spcPts val="1200"/>
              </a:spcAft>
              <a:defRPr sz="1500">
                <a:solidFill>
                  <a:srgbClr val="F1F5F9"/>
                </a:solidFill>
              </a:defRPr>
            </a:pPr>
            <a:r>
              <a:t>•  Proposed Solution: Software-defined Zero-Trust architecture combining MFA, continuous face tracking, and fail-closed security on standard webcams.</a:t>
            </a:r>
          </a:p>
        </p:txBody>
      </p:sp>
      <p:sp>
        <p:nvSpPr>
          <p:cNvPr id="5" name="Rounded Rectangle 4"/>
          <p:cNvSpPr/>
          <p:nvPr/>
        </p:nvSpPr>
        <p:spPr>
          <a:xfrm>
            <a:off x="8046720" y="1645920"/>
            <a:ext cx="3413455" cy="4572000"/>
          </a:xfrm>
          <a:prstGeom prst="roundRect">
            <a:avLst/>
          </a:prstGeom>
          <a:solidFill>
            <a:srgbClr val="1820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200" b="1">
                <a:solidFill>
                  <a:srgbClr val="38BDF8"/>
                </a:solidFill>
              </a:defRPr>
            </a:pPr>
            <a:r>
              <a:t>VISUAL EVIDENCE</a:t>
            </a:r>
          </a:p>
          <a:p>
            <a:pPr>
              <a:spcBef>
                <a:spcPts val="2000"/>
              </a:spcBef>
              <a:defRPr sz="1400">
                <a:solidFill>
                  <a:srgbClr val="4ADE80"/>
                </a:solidFill>
              </a:defRPr>
            </a:pPr>
            <a:r>
              <a:t>[COMPARISON TABLE: Passwords vs. Smart Cards vs. Windows Hello vs. Our System]</a:t>
            </a:r>
          </a:p>
          <a:p>
            <a:pPr>
              <a:spcBef>
                <a:spcPts val="3000"/>
              </a:spcBef>
              <a:defRPr sz="1200">
                <a:solidFill>
                  <a:srgbClr val="94A3B8"/>
                </a:solidFill>
              </a:defRPr>
            </a:pPr>
            <a:r>
              <a:t>Key Artifact:</a:t>
            </a:r>
            <a:br/>
            <a:r>
              <a:t>Report Ch. 4</a:t>
            </a:r>
            <a:br/>
            <a:r>
              <a:t>Status: Verified PASS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00584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100" b="1">
                <a:solidFill>
                  <a:srgbClr val="38BDF8"/>
                </a:solidFill>
              </a:defRPr>
            </a:pPr>
            <a:r>
              <a:t>SLIDE 05 | LAB ACCESS LOCK SYSTEM</a:t>
            </a:r>
          </a:p>
          <a:p>
            <a:pPr>
              <a:defRPr sz="2200" b="1">
                <a:solidFill>
                  <a:srgbClr val="F1F5F9"/>
                </a:solidFill>
              </a:defRPr>
            </a:pPr>
            <a:r>
              <a:t>Proposed System: Zero-Trust Access Control</a:t>
            </a:r>
          </a:p>
        </p:txBody>
      </p:sp>
      <p:sp>
        <p:nvSpPr>
          <p:cNvPr id="4" name="Rounded Rectangle 3"/>
          <p:cNvSpPr/>
          <p:nvPr/>
        </p:nvSpPr>
        <p:spPr>
          <a:xfrm>
            <a:off x="731520" y="1645920"/>
            <a:ext cx="7132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200"/>
              </a:spcAft>
              <a:defRPr sz="1500">
                <a:solidFill>
                  <a:srgbClr val="F1F5F9"/>
                </a:solidFill>
              </a:defRPr>
            </a:pPr>
            <a:r>
              <a:t>•  Core Philosophy: 'Never Trust, Always Verify' extended to physical desktop presence.</a:t>
            </a:r>
          </a:p>
          <a:p>
            <a:pPr>
              <a:spcAft>
                <a:spcPts val="1200"/>
              </a:spcAft>
              <a:defRPr sz="1500">
                <a:solidFill>
                  <a:srgbClr val="F1F5F9"/>
                </a:solidFill>
              </a:defRPr>
            </a:pPr>
            <a:r>
              <a:t>•  Continuous Authentication: Session validity is ephemeral (30 seconds); presence is re-evaluated every cycle rather than assumed permanent.</a:t>
            </a:r>
          </a:p>
          <a:p>
            <a:pPr>
              <a:spcAft>
                <a:spcPts val="1200"/>
              </a:spcAft>
              <a:defRPr sz="1500">
                <a:solidFill>
                  <a:srgbClr val="F1F5F9"/>
                </a:solidFill>
              </a:defRPr>
            </a:pPr>
            <a:r>
              <a:t>•  Multi-Tier Architecture: Central FastAPI microservice managing encrypted identities, edge clients executing local biometric inference, and OS Keyring securing master keys.</a:t>
            </a:r>
          </a:p>
          <a:p>
            <a:pPr>
              <a:spcAft>
                <a:spcPts val="1200"/>
              </a:spcAft>
              <a:defRPr sz="1500">
                <a:solidFill>
                  <a:srgbClr val="F1F5F9"/>
                </a:solidFill>
              </a:defRPr>
            </a:pPr>
            <a:r>
              <a:t>•  Privacy-Preserving Design: Zero raw images stored on disk; only 128-d floating-point embeddings encrypted with Fernet AES-128.</a:t>
            </a:r>
          </a:p>
        </p:txBody>
      </p:sp>
      <p:sp>
        <p:nvSpPr>
          <p:cNvPr id="5" name="Rounded Rectangle 4"/>
          <p:cNvSpPr/>
          <p:nvPr/>
        </p:nvSpPr>
        <p:spPr>
          <a:xfrm>
            <a:off x="8046720" y="1645920"/>
            <a:ext cx="3413455" cy="4572000"/>
          </a:xfrm>
          <a:prstGeom prst="roundRect">
            <a:avLst/>
          </a:prstGeom>
          <a:solidFill>
            <a:srgbClr val="1820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200" b="1">
                <a:solidFill>
                  <a:srgbClr val="38BDF8"/>
                </a:solidFill>
              </a:defRPr>
            </a:pPr>
            <a:r>
              <a:t>VISUAL EVIDENCE</a:t>
            </a:r>
          </a:p>
          <a:p>
            <a:pPr>
              <a:spcBef>
                <a:spcPts val="2000"/>
              </a:spcBef>
              <a:defRPr sz="1400">
                <a:solidFill>
                  <a:srgbClr val="4ADE80"/>
                </a:solidFill>
              </a:defRPr>
            </a:pPr>
            <a:r>
              <a:t>[FLOWCHART: The Zero-Trust Continuous Verification Lifecycle]</a:t>
            </a:r>
          </a:p>
          <a:p>
            <a:pPr>
              <a:spcBef>
                <a:spcPts val="3000"/>
              </a:spcBef>
              <a:defRPr sz="1200">
                <a:solidFill>
                  <a:srgbClr val="94A3B8"/>
                </a:solidFill>
              </a:defRPr>
            </a:pPr>
            <a:r>
              <a:t>Key Artifact:</a:t>
            </a:r>
            <a:br/>
            <a:r>
              <a:t>Report Ch. 5</a:t>
            </a:r>
            <a:br/>
            <a:r>
              <a:t>Status: Verified PASS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00584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100" b="1">
                <a:solidFill>
                  <a:srgbClr val="38BDF8"/>
                </a:solidFill>
              </a:defRPr>
            </a:pPr>
            <a:r>
              <a:t>SLIDE 06 | LAB ACCESS LOCK SYSTEM</a:t>
            </a:r>
          </a:p>
          <a:p>
            <a:pPr>
              <a:defRPr sz="2200" b="1">
                <a:solidFill>
                  <a:srgbClr val="F1F5F9"/>
                </a:solidFill>
              </a:defRPr>
            </a:pPr>
            <a:r>
              <a:t>System Architecture</a:t>
            </a:r>
          </a:p>
        </p:txBody>
      </p:sp>
      <p:sp>
        <p:nvSpPr>
          <p:cNvPr id="4" name="Rounded Rectangle 3"/>
          <p:cNvSpPr/>
          <p:nvPr/>
        </p:nvSpPr>
        <p:spPr>
          <a:xfrm>
            <a:off x="731520" y="1645920"/>
            <a:ext cx="7132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200"/>
              </a:spcAft>
              <a:defRPr sz="1500">
                <a:solidFill>
                  <a:srgbClr val="F1F5F9"/>
                </a:solidFill>
              </a:defRPr>
            </a:pPr>
            <a:r>
              <a:t>•  Centralized API Gateway: FastAPI microservice handling device registration, identity delivery, and audit logging over TLS 1.2/1.3.</a:t>
            </a:r>
          </a:p>
          <a:p>
            <a:pPr>
              <a:spcAft>
                <a:spcPts val="1200"/>
              </a:spcAft>
              <a:defRPr sz="1500">
                <a:solidFill>
                  <a:srgbClr val="F1F5F9"/>
                </a:solidFill>
              </a:defRPr>
            </a:pPr>
            <a:r>
              <a:t>•  Edge Client (Lab PC): Runs 3-factor login, background verification daemon, and system tray management application.</a:t>
            </a:r>
          </a:p>
          <a:p>
            <a:pPr>
              <a:spcAft>
                <a:spcPts val="1200"/>
              </a:spcAft>
              <a:defRPr sz="1500">
                <a:solidFill>
                  <a:srgbClr val="F1F5F9"/>
                </a:solidFill>
              </a:defRPr>
            </a:pPr>
            <a:r>
              <a:t>•  Cryptographic Storage Enclave: 256-bit Fernet master key isolated in host OS Keyring (Windows Credential Manager / Linux Secret Service).</a:t>
            </a:r>
          </a:p>
          <a:p>
            <a:pPr>
              <a:spcAft>
                <a:spcPts val="1200"/>
              </a:spcAft>
              <a:defRPr sz="1500">
                <a:solidFill>
                  <a:srgbClr val="F1F5F9"/>
                </a:solidFill>
              </a:defRPr>
            </a:pPr>
            <a:r>
              <a:t>•  Per-Device JWT Binding: Edge machines provision unique client IDs and authenticate via signed 24-hour OAuth2 JWT tokens.</a:t>
            </a:r>
          </a:p>
        </p:txBody>
      </p:sp>
      <p:sp>
        <p:nvSpPr>
          <p:cNvPr id="5" name="Rounded Rectangle 4"/>
          <p:cNvSpPr/>
          <p:nvPr/>
        </p:nvSpPr>
        <p:spPr>
          <a:xfrm>
            <a:off x="8046720" y="1645920"/>
            <a:ext cx="3413455" cy="4572000"/>
          </a:xfrm>
          <a:prstGeom prst="roundRect">
            <a:avLst/>
          </a:prstGeom>
          <a:solidFill>
            <a:srgbClr val="1820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200" b="1">
                <a:solidFill>
                  <a:srgbClr val="38BDF8"/>
                </a:solidFill>
              </a:defRPr>
            </a:pPr>
            <a:r>
              <a:t>VISUAL EVIDENCE</a:t>
            </a:r>
          </a:p>
          <a:p>
            <a:pPr>
              <a:spcBef>
                <a:spcPts val="2000"/>
              </a:spcBef>
              <a:defRPr sz="1400">
                <a:solidFill>
                  <a:srgbClr val="4ADE80"/>
                </a:solidFill>
              </a:defRPr>
            </a:pPr>
            <a:r>
              <a:t>[ARCHITECTURE DIAGRAM: Edge Clients &lt;-&gt; TLS REST API &lt;-&gt; SQLite DB &amp; OS Keyring]</a:t>
            </a:r>
          </a:p>
          <a:p>
            <a:pPr>
              <a:spcBef>
                <a:spcPts val="3000"/>
              </a:spcBef>
              <a:defRPr sz="1200">
                <a:solidFill>
                  <a:srgbClr val="94A3B8"/>
                </a:solidFill>
              </a:defRPr>
            </a:pPr>
            <a:r>
              <a:t>Key Artifact:</a:t>
            </a:r>
            <a:br/>
            <a:r>
              <a:t>Report Ch. 6</a:t>
            </a:r>
            <a:br/>
            <a:r>
              <a:t>Status: Verified PASS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00584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100" b="1">
                <a:solidFill>
                  <a:srgbClr val="38BDF8"/>
                </a:solidFill>
              </a:defRPr>
            </a:pPr>
            <a:r>
              <a:t>SLIDE 07 | LAB ACCESS LOCK SYSTEM</a:t>
            </a:r>
          </a:p>
          <a:p>
            <a:pPr>
              <a:defRPr sz="2200" b="1">
                <a:solidFill>
                  <a:srgbClr val="F1F5F9"/>
                </a:solidFill>
              </a:defRPr>
            </a:pPr>
            <a:r>
              <a:t>Security Features Overview (Defense-in-Depth)</a:t>
            </a:r>
          </a:p>
        </p:txBody>
      </p:sp>
      <p:sp>
        <p:nvSpPr>
          <p:cNvPr id="4" name="Rounded Rectangle 3"/>
          <p:cNvSpPr/>
          <p:nvPr/>
        </p:nvSpPr>
        <p:spPr>
          <a:xfrm>
            <a:off x="731520" y="1645920"/>
            <a:ext cx="7132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200"/>
              </a:spcAft>
              <a:defRPr sz="1500">
                <a:solidFill>
                  <a:srgbClr val="F1F5F9"/>
                </a:solidFill>
              </a:defRPr>
            </a:pPr>
            <a:r>
              <a:t>•  Authentication Layer: Roll Number + Google Authenticator TOTP + Facial Landmark Match.</a:t>
            </a:r>
          </a:p>
          <a:p>
            <a:pPr>
              <a:spcAft>
                <a:spcPts val="1200"/>
              </a:spcAft>
              <a:defRPr sz="1500">
                <a:solidFill>
                  <a:srgbClr val="F1F5F9"/>
                </a:solidFill>
              </a:defRPr>
            </a:pPr>
            <a:r>
              <a:t>•  Anti-Spoofing Layer: Randomized 4-second interactive challenge-response with facial identity cross-verification.</a:t>
            </a:r>
          </a:p>
          <a:p>
            <a:pPr>
              <a:spcAft>
                <a:spcPts val="1200"/>
              </a:spcAft>
              <a:defRPr sz="1500">
                <a:solidFill>
                  <a:srgbClr val="F1F5F9"/>
                </a:solidFill>
              </a:defRPr>
            </a:pPr>
            <a:r>
              <a:t>•  Session Governance: 30-second continuous check; 60s absence grace timeout; instant lock on face mismatch or multi-face (`len &gt; 1`).</a:t>
            </a:r>
          </a:p>
          <a:p>
            <a:pPr>
              <a:spcAft>
                <a:spcPts val="1200"/>
              </a:spcAft>
              <a:defRPr sz="1500">
                <a:solidFill>
                  <a:srgbClr val="F1F5F9"/>
                </a:solidFill>
              </a:defRPr>
            </a:pPr>
            <a:r>
              <a:t>•  Cryptographic Layer: Fernet AES-128-CBC + HMAC-SHA256 at rest; TLS in transit; SHA-256 linear hash-chained audit logging.</a:t>
            </a:r>
          </a:p>
          <a:p>
            <a:pPr>
              <a:spcAft>
                <a:spcPts val="1200"/>
              </a:spcAft>
              <a:defRPr sz="1500">
                <a:solidFill>
                  <a:srgbClr val="F1F5F9"/>
                </a:solidFill>
              </a:defRPr>
            </a:pPr>
            <a:r>
              <a:t>•  Alerting &amp; Resilience: Asynchronous Discord/Slack webhook incident dispatch; fail-closed defaults upon server drop.</a:t>
            </a:r>
          </a:p>
        </p:txBody>
      </p:sp>
      <p:sp>
        <p:nvSpPr>
          <p:cNvPr id="5" name="Rounded Rectangle 4"/>
          <p:cNvSpPr/>
          <p:nvPr/>
        </p:nvSpPr>
        <p:spPr>
          <a:xfrm>
            <a:off x="8046720" y="1645920"/>
            <a:ext cx="3413455" cy="4572000"/>
          </a:xfrm>
          <a:prstGeom prst="roundRect">
            <a:avLst/>
          </a:prstGeom>
          <a:solidFill>
            <a:srgbClr val="1820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200" b="1">
                <a:solidFill>
                  <a:srgbClr val="38BDF8"/>
                </a:solidFill>
              </a:defRPr>
            </a:pPr>
            <a:r>
              <a:t>VISUAL EVIDENCE</a:t>
            </a:r>
          </a:p>
          <a:p>
            <a:pPr>
              <a:spcBef>
                <a:spcPts val="2000"/>
              </a:spcBef>
              <a:defRPr sz="1400">
                <a:solidFill>
                  <a:srgbClr val="4ADE80"/>
                </a:solidFill>
              </a:defRPr>
            </a:pPr>
            <a:r>
              <a:t>[SECURITY MATRIX GRID: 5 Composable Defense Layers &amp; Mitigated CWEs]</a:t>
            </a:r>
          </a:p>
          <a:p>
            <a:pPr>
              <a:spcBef>
                <a:spcPts val="3000"/>
              </a:spcBef>
              <a:defRPr sz="1200">
                <a:solidFill>
                  <a:srgbClr val="94A3B8"/>
                </a:solidFill>
              </a:defRPr>
            </a:pPr>
            <a:r>
              <a:t>Key Artifact:</a:t>
            </a:r>
            <a:br/>
            <a:r>
              <a:t>Report Ch. 7</a:t>
            </a:r>
            <a:br/>
            <a:r>
              <a:t>Status: Verified PASS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00584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100" b="1">
                <a:solidFill>
                  <a:srgbClr val="38BDF8"/>
                </a:solidFill>
              </a:defRPr>
            </a:pPr>
            <a:r>
              <a:t>SLIDE 08 | LAB ACCESS LOCK SYSTEM</a:t>
            </a:r>
          </a:p>
          <a:p>
            <a:pPr>
              <a:defRPr sz="2200" b="1">
                <a:solidFill>
                  <a:srgbClr val="F1F5F9"/>
                </a:solidFill>
              </a:defRPr>
            </a:pPr>
            <a:r>
              <a:t>3-Factor Authentication Pipeline</a:t>
            </a:r>
          </a:p>
        </p:txBody>
      </p:sp>
      <p:sp>
        <p:nvSpPr>
          <p:cNvPr id="4" name="Rounded Rectangle 3"/>
          <p:cNvSpPr/>
          <p:nvPr/>
        </p:nvSpPr>
        <p:spPr>
          <a:xfrm>
            <a:off x="731520" y="1645920"/>
            <a:ext cx="7132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200"/>
              </a:spcAft>
              <a:defRPr sz="1500">
                <a:solidFill>
                  <a:srgbClr val="F1F5F9"/>
                </a:solidFill>
              </a:defRPr>
            </a:pPr>
            <a:r>
              <a:t>•  Factor 1 (Claim): Student submits institutional roll number.</a:t>
            </a:r>
          </a:p>
          <a:p>
            <a:pPr>
              <a:spcAft>
                <a:spcPts val="1200"/>
              </a:spcAft>
              <a:defRPr sz="1500">
                <a:solidFill>
                  <a:srgbClr val="F1F5F9"/>
                </a:solidFill>
              </a:defRPr>
            </a:pPr>
            <a:r>
              <a:t>•  Factor 2 (Inherence): Webcam captures frame; dlib extracts 68 landmarks &amp; 128-d vector; verifies Euclidean distance (d &lt;= 0.60) against decrypted template.</a:t>
            </a:r>
          </a:p>
          <a:p>
            <a:pPr>
              <a:spcAft>
                <a:spcPts val="1200"/>
              </a:spcAft>
              <a:defRPr sz="1500">
                <a:solidFill>
                  <a:srgbClr val="F1F5F9"/>
                </a:solidFill>
              </a:defRPr>
            </a:pPr>
            <a:r>
              <a:t>•  Factor 3 (Possession): User submits rotating 6-digit RFC 6238 TOTP code from smartphone (Google Authenticator).</a:t>
            </a:r>
          </a:p>
          <a:p>
            <a:pPr>
              <a:spcAft>
                <a:spcPts val="1200"/>
              </a:spcAft>
              <a:defRPr sz="1500">
                <a:solidFill>
                  <a:srgbClr val="F1F5F9"/>
                </a:solidFill>
              </a:defRPr>
            </a:pPr>
            <a:r>
              <a:t>•  Anti-Spoofing Gate: Randomized challenge (Blink, Mouth, Turn) within 4.0s; cross-verifies that the mover's face matches the enrolled template.</a:t>
            </a:r>
          </a:p>
        </p:txBody>
      </p:sp>
      <p:sp>
        <p:nvSpPr>
          <p:cNvPr id="5" name="Rounded Rectangle 4"/>
          <p:cNvSpPr/>
          <p:nvPr/>
        </p:nvSpPr>
        <p:spPr>
          <a:xfrm>
            <a:off x="8046720" y="1645920"/>
            <a:ext cx="3413455" cy="4572000"/>
          </a:xfrm>
          <a:prstGeom prst="roundRect">
            <a:avLst/>
          </a:prstGeom>
          <a:solidFill>
            <a:srgbClr val="1820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200" b="1">
                <a:solidFill>
                  <a:srgbClr val="38BDF8"/>
                </a:solidFill>
              </a:defRPr>
            </a:pPr>
            <a:r>
              <a:t>VISUAL EVIDENCE</a:t>
            </a:r>
          </a:p>
          <a:p>
            <a:pPr>
              <a:spcBef>
                <a:spcPts val="2000"/>
              </a:spcBef>
              <a:defRPr sz="1400">
                <a:solidFill>
                  <a:srgbClr val="4ADE80"/>
                </a:solidFill>
              </a:defRPr>
            </a:pPr>
            <a:r>
              <a:t>[SEQUENCE DIAGRAM: Sequential Factor Evaluation Pipeline]</a:t>
            </a:r>
          </a:p>
          <a:p>
            <a:pPr>
              <a:spcBef>
                <a:spcPts val="3000"/>
              </a:spcBef>
              <a:defRPr sz="1200">
                <a:solidFill>
                  <a:srgbClr val="94A3B8"/>
                </a:solidFill>
              </a:defRPr>
            </a:pPr>
            <a:r>
              <a:t>Key Artifact:</a:t>
            </a:r>
            <a:br/>
            <a:r>
              <a:t>Report Ch. 8</a:t>
            </a:r>
            <a:br/>
            <a:r>
              <a:t>Status: Verified PASS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00584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100" b="1">
                <a:solidFill>
                  <a:srgbClr val="38BDF8"/>
                </a:solidFill>
              </a:defRPr>
            </a:pPr>
            <a:r>
              <a:t>SLIDE 09 | LAB ACCESS LOCK SYSTEM</a:t>
            </a:r>
          </a:p>
          <a:p>
            <a:pPr>
              <a:defRPr sz="2200" b="1">
                <a:solidFill>
                  <a:srgbClr val="F1F5F9"/>
                </a:solidFill>
              </a:defRPr>
            </a:pPr>
            <a:r>
              <a:t>Continuous Verification &amp; Fail-Closed Logic</a:t>
            </a:r>
          </a:p>
        </p:txBody>
      </p:sp>
      <p:sp>
        <p:nvSpPr>
          <p:cNvPr id="4" name="Rounded Rectangle 3"/>
          <p:cNvSpPr/>
          <p:nvPr/>
        </p:nvSpPr>
        <p:spPr>
          <a:xfrm>
            <a:off x="731520" y="1645920"/>
            <a:ext cx="7132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200"/>
              </a:spcAft>
              <a:defRPr sz="1500">
                <a:solidFill>
                  <a:srgbClr val="F1F5F9"/>
                </a:solidFill>
              </a:defRPr>
            </a:pPr>
            <a:r>
              <a:t>•  30-Second Verification Cycle: Worker thread evaluates presence and distance without interfering with foreground desktop input.</a:t>
            </a:r>
          </a:p>
          <a:p>
            <a:pPr>
              <a:spcAft>
                <a:spcPts val="1200"/>
              </a:spcAft>
              <a:defRPr sz="1500">
                <a:solidFill>
                  <a:srgbClr val="F1F5F9"/>
                </a:solidFill>
              </a:defRPr>
            </a:pPr>
            <a:r>
              <a:t>•  Absence Grace Period: Cycle 1 with no face increments warning counter (`missed_checks = 1`); Cycle 2 engages OS `LockWorkStation()`.</a:t>
            </a:r>
          </a:p>
          <a:p>
            <a:pPr>
              <a:spcAft>
                <a:spcPts val="1200"/>
              </a:spcAft>
              <a:defRPr sz="1500">
                <a:solidFill>
                  <a:srgbClr val="F1F5F9"/>
                </a:solidFill>
              </a:defRPr>
            </a:pPr>
            <a:r>
              <a:t>•  Instant Mismatch Lockdown: Unregistered face seated triggers immediate `LOCK_FACE_MISMATCH` and dispatches HIGH severity alert.</a:t>
            </a:r>
          </a:p>
          <a:p>
            <a:pPr>
              <a:spcAft>
                <a:spcPts val="1200"/>
              </a:spcAft>
              <a:defRPr sz="1500">
                <a:solidFill>
                  <a:srgbClr val="F1F5F9"/>
                </a:solidFill>
              </a:defRPr>
            </a:pPr>
            <a:r>
              <a:t>•  Anti-Tailgating Enforcement: Multiple faces detected (`len(faces) &gt; 1`) triggers immediate lock to protect privacy.</a:t>
            </a:r>
          </a:p>
          <a:p>
            <a:pPr>
              <a:spcAft>
                <a:spcPts val="1200"/>
              </a:spcAft>
              <a:defRPr sz="1500">
                <a:solidFill>
                  <a:srgbClr val="F1F5F9"/>
                </a:solidFill>
              </a:defRPr>
            </a:pPr>
            <a:r>
              <a:t>•  Fail-Closed Disconnect Policy: If the central server drops or network fails, the workstation locks rather than remaining open.</a:t>
            </a:r>
          </a:p>
        </p:txBody>
      </p:sp>
      <p:sp>
        <p:nvSpPr>
          <p:cNvPr id="5" name="Rounded Rectangle 4"/>
          <p:cNvSpPr/>
          <p:nvPr/>
        </p:nvSpPr>
        <p:spPr>
          <a:xfrm>
            <a:off x="8046720" y="1645920"/>
            <a:ext cx="3413455" cy="4572000"/>
          </a:xfrm>
          <a:prstGeom prst="roundRect">
            <a:avLst/>
          </a:prstGeom>
          <a:solidFill>
            <a:srgbClr val="1820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200" b="1">
                <a:solidFill>
                  <a:srgbClr val="38BDF8"/>
                </a:solidFill>
              </a:defRPr>
            </a:pPr>
            <a:r>
              <a:t>VISUAL EVIDENCE</a:t>
            </a:r>
          </a:p>
          <a:p>
            <a:pPr>
              <a:spcBef>
                <a:spcPts val="2000"/>
              </a:spcBef>
              <a:defRPr sz="1400">
                <a:solidFill>
                  <a:srgbClr val="4ADE80"/>
                </a:solidFill>
              </a:defRPr>
            </a:pPr>
            <a:r>
              <a:t>[STATE MACHINE DIAGRAM: Active -&gt; Grace Period -&gt; OS Locked State Transitions]</a:t>
            </a:r>
          </a:p>
          <a:p>
            <a:pPr>
              <a:spcBef>
                <a:spcPts val="3000"/>
              </a:spcBef>
              <a:defRPr sz="1200">
                <a:solidFill>
                  <a:srgbClr val="94A3B8"/>
                </a:solidFill>
              </a:defRPr>
            </a:pPr>
            <a:r>
              <a:t>Key Artifact:</a:t>
            </a:r>
            <a:br/>
            <a:r>
              <a:t>Report Ch. 9</a:t>
            </a:r>
            <a:br/>
            <a:r>
              <a:t>Status: Verified PASS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00584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100" b="1">
                <a:solidFill>
                  <a:srgbClr val="38BDF8"/>
                </a:solidFill>
              </a:defRPr>
            </a:pPr>
            <a:r>
              <a:t>SLIDE 10 | LAB ACCESS LOCK SYSTEM</a:t>
            </a:r>
          </a:p>
          <a:p>
            <a:pPr>
              <a:defRPr sz="2200" b="1">
                <a:solidFill>
                  <a:srgbClr val="F1F5F9"/>
                </a:solidFill>
              </a:defRPr>
            </a:pPr>
            <a:r>
              <a:t>Tamper-Evident SHA-256 Audit Logging</a:t>
            </a:r>
          </a:p>
        </p:txBody>
      </p:sp>
      <p:sp>
        <p:nvSpPr>
          <p:cNvPr id="4" name="Rounded Rectangle 3"/>
          <p:cNvSpPr/>
          <p:nvPr/>
        </p:nvSpPr>
        <p:spPr>
          <a:xfrm>
            <a:off x="731520" y="1645920"/>
            <a:ext cx="7132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200"/>
              </a:spcAft>
              <a:defRPr sz="1500">
                <a:solidFill>
                  <a:srgbClr val="F1F5F9"/>
                </a:solidFill>
              </a:defRPr>
            </a:pPr>
            <a:r>
              <a:t>•  Mathematical Immutability: Every audit row computes `entry_hash = SHA256(data_i || previous_hash_{i-1})`.</a:t>
            </a:r>
          </a:p>
          <a:p>
            <a:pPr>
              <a:spcAft>
                <a:spcPts val="1200"/>
              </a:spcAft>
              <a:defRPr sz="1500">
                <a:solidFill>
                  <a:srgbClr val="F1F5F9"/>
                </a:solidFill>
              </a:defRPr>
            </a:pPr>
            <a:r>
              <a:t>•  Genesis Hash Anchor: Chain starts at deterministic 64-zero Genesis Block ($H_0 = 0000\dots0000$).</a:t>
            </a:r>
          </a:p>
          <a:p>
            <a:pPr>
              <a:spcAft>
                <a:spcPts val="1200"/>
              </a:spcAft>
              <a:defRPr sz="1500">
                <a:solidFill>
                  <a:srgbClr val="F1F5F9"/>
                </a:solidFill>
              </a:defRPr>
            </a:pPr>
            <a:r>
              <a:t>•  Non-Repudiation (RFC 6962): Retroactive modification of timestamps, event tags, or confidence scores breaks hash continuity.</a:t>
            </a:r>
          </a:p>
          <a:p>
            <a:pPr>
              <a:spcAft>
                <a:spcPts val="1200"/>
              </a:spcAft>
              <a:defRPr sz="1500">
                <a:solidFill>
                  <a:srgbClr val="F1F5F9"/>
                </a:solidFill>
              </a:defRPr>
            </a:pPr>
            <a:r>
              <a:t>•  Forensic CLI Verification: Running `log_viewer.py --verify-integrity` traverses the ledger and pinpoints the exact corrupted row ID.</a:t>
            </a:r>
          </a:p>
        </p:txBody>
      </p:sp>
      <p:sp>
        <p:nvSpPr>
          <p:cNvPr id="5" name="Rounded Rectangle 4"/>
          <p:cNvSpPr/>
          <p:nvPr/>
        </p:nvSpPr>
        <p:spPr>
          <a:xfrm>
            <a:off x="8046720" y="1645920"/>
            <a:ext cx="3413455" cy="4572000"/>
          </a:xfrm>
          <a:prstGeom prst="roundRect">
            <a:avLst/>
          </a:prstGeom>
          <a:solidFill>
            <a:srgbClr val="1820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200" b="1">
                <a:solidFill>
                  <a:srgbClr val="38BDF8"/>
                </a:solidFill>
              </a:defRPr>
            </a:pPr>
            <a:r>
              <a:t>VISUAL EVIDENCE</a:t>
            </a:r>
          </a:p>
          <a:p>
            <a:pPr>
              <a:spcBef>
                <a:spcPts val="2000"/>
              </a:spcBef>
              <a:defRPr sz="1400">
                <a:solidFill>
                  <a:srgbClr val="4ADE80"/>
                </a:solidFill>
              </a:defRPr>
            </a:pPr>
            <a:r>
              <a:t>[HASH CHAIN DIAGRAM: Block H_{i-1} -&gt; SHA-256 Hash -&gt; Block H_i]</a:t>
            </a:r>
          </a:p>
          <a:p>
            <a:pPr>
              <a:spcBef>
                <a:spcPts val="3000"/>
              </a:spcBef>
              <a:defRPr sz="1200">
                <a:solidFill>
                  <a:srgbClr val="94A3B8"/>
                </a:solidFill>
              </a:defRPr>
            </a:pPr>
            <a:r>
              <a:t>Key Artifact:</a:t>
            </a:r>
            <a:br/>
            <a:r>
              <a:t>Report Ch. 9</a:t>
            </a:r>
            <a:br/>
            <a:r>
              <a:t>Status: Verified PASS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00584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100" b="1">
                <a:solidFill>
                  <a:srgbClr val="38BDF8"/>
                </a:solidFill>
              </a:defRPr>
            </a:pPr>
            <a:r>
              <a:t>SLIDE 11 | LAB ACCESS LOCK SYSTEM</a:t>
            </a:r>
          </a:p>
          <a:p>
            <a:pPr>
              <a:defRPr sz="2200" b="1">
                <a:solidFill>
                  <a:srgbClr val="F1F5F9"/>
                </a:solidFill>
              </a:defRPr>
            </a:pPr>
            <a:r>
              <a:t>Database Schema &amp; Entity-Relationship View</a:t>
            </a:r>
          </a:p>
        </p:txBody>
      </p:sp>
      <p:sp>
        <p:nvSpPr>
          <p:cNvPr id="4" name="Rounded Rectangle 3"/>
          <p:cNvSpPr/>
          <p:nvPr/>
        </p:nvSpPr>
        <p:spPr>
          <a:xfrm>
            <a:off x="731520" y="1645920"/>
            <a:ext cx="7132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200"/>
              </a:spcAft>
              <a:defRPr sz="1500">
                <a:solidFill>
                  <a:srgbClr val="F1F5F9"/>
                </a:solidFill>
              </a:defRPr>
            </a:pPr>
            <a:r>
              <a:t>•  `students` Table: Stores encrypted 128-d face embedding BLOBs and encrypted base32 TOTP secrets; zero plaintext PII.</a:t>
            </a:r>
          </a:p>
          <a:p>
            <a:pPr>
              <a:spcAft>
                <a:spcPts val="1200"/>
              </a:spcAft>
              <a:defRPr sz="1500">
                <a:solidFill>
                  <a:srgbClr val="F1F5F9"/>
                </a:solidFill>
              </a:defRPr>
            </a:pPr>
            <a:r>
              <a:t>•  `devices` Table: Provisions lab workstations with unique UUIDs, shared secrets, and active authorization state flags.</a:t>
            </a:r>
          </a:p>
          <a:p>
            <a:pPr>
              <a:spcAft>
                <a:spcPts val="1200"/>
              </a:spcAft>
              <a:defRPr sz="1500">
                <a:solidFill>
                  <a:srgbClr val="F1F5F9"/>
                </a:solidFill>
              </a:defRPr>
            </a:pPr>
            <a:r>
              <a:t>•  `logs` Table: Append-only audit trail containing ISO-8601 timestamps, events, device IDs, confidence scores, and SHA-256 hash chains.</a:t>
            </a:r>
          </a:p>
          <a:p>
            <a:pPr>
              <a:spcAft>
                <a:spcPts val="1200"/>
              </a:spcAft>
              <a:defRPr sz="1500">
                <a:solidFill>
                  <a:srgbClr val="F1F5F9"/>
                </a:solidFill>
              </a:defRPr>
            </a:pPr>
            <a:r>
              <a:t>•  Data Isolation: Foreign keys tie edge devices to audit logs, ensuring forensic attribution across the lab.</a:t>
            </a:r>
          </a:p>
        </p:txBody>
      </p:sp>
      <p:sp>
        <p:nvSpPr>
          <p:cNvPr id="5" name="Rounded Rectangle 4"/>
          <p:cNvSpPr/>
          <p:nvPr/>
        </p:nvSpPr>
        <p:spPr>
          <a:xfrm>
            <a:off x="8046720" y="1645920"/>
            <a:ext cx="3413455" cy="4572000"/>
          </a:xfrm>
          <a:prstGeom prst="roundRect">
            <a:avLst/>
          </a:prstGeom>
          <a:solidFill>
            <a:srgbClr val="1820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200" b="1">
                <a:solidFill>
                  <a:srgbClr val="38BDF8"/>
                </a:solidFill>
              </a:defRPr>
            </a:pPr>
            <a:r>
              <a:t>VISUAL EVIDENCE</a:t>
            </a:r>
          </a:p>
          <a:p>
            <a:pPr>
              <a:spcBef>
                <a:spcPts val="2000"/>
              </a:spcBef>
              <a:defRPr sz="1400">
                <a:solidFill>
                  <a:srgbClr val="4ADE80"/>
                </a:solidFill>
              </a:defRPr>
            </a:pPr>
            <a:r>
              <a:t>[ER DIAGRAM: Students (1) &lt;-&gt; Devices (M) &lt;-&gt; Logs (M)]</a:t>
            </a:r>
          </a:p>
          <a:p>
            <a:pPr>
              <a:spcBef>
                <a:spcPts val="3000"/>
              </a:spcBef>
              <a:defRPr sz="1200">
                <a:solidFill>
                  <a:srgbClr val="94A3B8"/>
                </a:solidFill>
              </a:defRPr>
            </a:pPr>
            <a:r>
              <a:t>Key Artifact:</a:t>
            </a:r>
            <a:br/>
            <a:r>
              <a:t>Report Ch. 9</a:t>
            </a:r>
            <a:br/>
            <a:r>
              <a:t>Status: Verified PASS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00584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100" b="1">
                <a:solidFill>
                  <a:srgbClr val="38BDF8"/>
                </a:solidFill>
              </a:defRPr>
            </a:pPr>
            <a:r>
              <a:t>SLIDE 12 | LAB ACCESS LOCK SYSTEM</a:t>
            </a:r>
          </a:p>
          <a:p>
            <a:pPr>
              <a:defRPr sz="2200" b="1">
                <a:solidFill>
                  <a:srgbClr val="F1F5F9"/>
                </a:solidFill>
              </a:defRPr>
            </a:pPr>
            <a:r>
              <a:t>Testing &amp; Empirical Verification Summary</a:t>
            </a:r>
          </a:p>
        </p:txBody>
      </p:sp>
      <p:sp>
        <p:nvSpPr>
          <p:cNvPr id="4" name="Rounded Rectangle 3"/>
          <p:cNvSpPr/>
          <p:nvPr/>
        </p:nvSpPr>
        <p:spPr>
          <a:xfrm>
            <a:off x="731520" y="1645920"/>
            <a:ext cx="7132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200"/>
              </a:spcAft>
              <a:defRPr sz="1500">
                <a:solidFill>
                  <a:srgbClr val="F1F5F9"/>
                </a:solidFill>
              </a:defRPr>
            </a:pPr>
            <a:r>
              <a:t>•  Defense-in-Depth Integration Test Suite: 9/9 automated tests passing (100% pass rate) via FastAPI in-memory TestClient.</a:t>
            </a:r>
          </a:p>
          <a:p>
            <a:pPr>
              <a:spcAft>
                <a:spcPts val="1200"/>
              </a:spcAft>
              <a:defRPr sz="1500">
                <a:solidFill>
                  <a:srgbClr val="F1F5F9"/>
                </a:solidFill>
              </a:defRPr>
            </a:pPr>
            <a:r>
              <a:t>•  Cryptographic Parity Verified: Bitwise identical 128-d vectors after round-trip Fernet encryption/decryption.</a:t>
            </a:r>
          </a:p>
          <a:p>
            <a:pPr>
              <a:spcAft>
                <a:spcPts val="1200"/>
              </a:spcAft>
              <a:defRPr sz="1500">
                <a:solidFill>
                  <a:srgbClr val="F1F5F9"/>
                </a:solidFill>
              </a:defRPr>
            </a:pPr>
            <a:r>
              <a:t>•  Automated Liveness Mock Test: Verifies enrolled face passes, impostor face fails, and mid-challenge face swap fails.</a:t>
            </a:r>
          </a:p>
          <a:p>
            <a:pPr>
              <a:spcAft>
                <a:spcPts val="1200"/>
              </a:spcAft>
              <a:defRPr sz="1500">
                <a:solidFill>
                  <a:srgbClr val="F1F5F9"/>
                </a:solidFill>
              </a:defRPr>
            </a:pPr>
            <a:r>
              <a:t>•  Simulated SQL Tamper Catching: Test intentionally alters Log ID 63 confidence score from 0.88 to 0.98; audit tool halts at exact row.</a:t>
            </a:r>
          </a:p>
        </p:txBody>
      </p:sp>
      <p:sp>
        <p:nvSpPr>
          <p:cNvPr id="5" name="Rounded Rectangle 4"/>
          <p:cNvSpPr/>
          <p:nvPr/>
        </p:nvSpPr>
        <p:spPr>
          <a:xfrm>
            <a:off x="8046720" y="1645920"/>
            <a:ext cx="3413455" cy="4572000"/>
          </a:xfrm>
          <a:prstGeom prst="roundRect">
            <a:avLst/>
          </a:prstGeom>
          <a:solidFill>
            <a:srgbClr val="1820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200" b="1">
                <a:solidFill>
                  <a:srgbClr val="38BDF8"/>
                </a:solidFill>
              </a:defRPr>
            </a:pPr>
            <a:r>
              <a:t>VISUAL EVIDENCE</a:t>
            </a:r>
          </a:p>
          <a:p>
            <a:pPr>
              <a:spcBef>
                <a:spcPts val="2000"/>
              </a:spcBef>
              <a:defRPr sz="1400">
                <a:solidFill>
                  <a:srgbClr val="4ADE80"/>
                </a:solidFill>
              </a:defRPr>
            </a:pPr>
            <a:r>
              <a:t>[TEST RESULTS TABLE: 9 Automated Vectors with PASS Status]</a:t>
            </a:r>
          </a:p>
          <a:p>
            <a:pPr>
              <a:spcBef>
                <a:spcPts val="3000"/>
              </a:spcBef>
              <a:defRPr sz="1200">
                <a:solidFill>
                  <a:srgbClr val="94A3B8"/>
                </a:solidFill>
              </a:defRPr>
            </a:pPr>
            <a:r>
              <a:t>Key Artifact:</a:t>
            </a:r>
            <a:br/>
            <a:r>
              <a:t>Report Ch. 9</a:t>
            </a:r>
            <a:br/>
            <a:r>
              <a:t>Status: Verified PASS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00584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100" b="1">
                <a:solidFill>
                  <a:srgbClr val="38BDF8"/>
                </a:solidFill>
              </a:defRPr>
            </a:pPr>
            <a:r>
              <a:t>SLIDE 13 | LAB ACCESS LOCK SYSTEM</a:t>
            </a:r>
          </a:p>
          <a:p>
            <a:pPr>
              <a:defRPr sz="2200" b="1">
                <a:solidFill>
                  <a:srgbClr val="F1F5F9"/>
                </a:solidFill>
              </a:defRPr>
            </a:pPr>
            <a:r>
              <a:t>System Results &amp; Live Demonstration</a:t>
            </a:r>
          </a:p>
        </p:txBody>
      </p:sp>
      <p:sp>
        <p:nvSpPr>
          <p:cNvPr id="4" name="Rounded Rectangle 3"/>
          <p:cNvSpPr/>
          <p:nvPr/>
        </p:nvSpPr>
        <p:spPr>
          <a:xfrm>
            <a:off x="731520" y="1645920"/>
            <a:ext cx="7132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200"/>
              </a:spcAft>
              <a:defRPr sz="1500">
                <a:solidFill>
                  <a:srgbClr val="F1F5F9"/>
                </a:solidFill>
              </a:defRPr>
            </a:pPr>
            <a:r>
              <a:t>•  Enrollment: Average registration completed in seconds with real-time QR generation.</a:t>
            </a:r>
          </a:p>
          <a:p>
            <a:pPr>
              <a:spcAft>
                <a:spcPts val="1200"/>
              </a:spcAft>
              <a:defRPr sz="1500">
                <a:solidFill>
                  <a:srgbClr val="F1F5F9"/>
                </a:solidFill>
              </a:defRPr>
            </a:pPr>
            <a:r>
              <a:t>•  3-Factor Verification: Clean pass rate for enrolled students completing the randomized challenge.</a:t>
            </a:r>
          </a:p>
          <a:p>
            <a:pPr>
              <a:spcAft>
                <a:spcPts val="1200"/>
              </a:spcAft>
              <a:defRPr sz="1500">
                <a:solidFill>
                  <a:srgbClr val="F1F5F9"/>
                </a:solidFill>
              </a:defRPr>
            </a:pPr>
            <a:r>
              <a:t>•  Continuous Daemon: Steady 30-second heartbeats logging MATCH events with confidence scores.</a:t>
            </a:r>
          </a:p>
          <a:p>
            <a:pPr>
              <a:spcAft>
                <a:spcPts val="1200"/>
              </a:spcAft>
              <a:defRPr sz="1500">
                <a:solidFill>
                  <a:srgbClr val="F1F5F9"/>
                </a:solidFill>
              </a:defRPr>
            </a:pPr>
            <a:r>
              <a:t>•  Forensic Integrity: `log_viewer.py --verify-integrity` reporting intact cryptographic continuity across historical sessions.</a:t>
            </a:r>
          </a:p>
        </p:txBody>
      </p:sp>
      <p:sp>
        <p:nvSpPr>
          <p:cNvPr id="5" name="Rounded Rectangle 4"/>
          <p:cNvSpPr/>
          <p:nvPr/>
        </p:nvSpPr>
        <p:spPr>
          <a:xfrm>
            <a:off x="8046720" y="1645920"/>
            <a:ext cx="3413455" cy="4572000"/>
          </a:xfrm>
          <a:prstGeom prst="roundRect">
            <a:avLst/>
          </a:prstGeom>
          <a:solidFill>
            <a:srgbClr val="1820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200" b="1">
                <a:solidFill>
                  <a:srgbClr val="38BDF8"/>
                </a:solidFill>
              </a:defRPr>
            </a:pPr>
            <a:r>
              <a:t>VISUAL EVIDENCE</a:t>
            </a:r>
          </a:p>
          <a:p>
            <a:pPr>
              <a:spcBef>
                <a:spcPts val="2000"/>
              </a:spcBef>
              <a:defRPr sz="1400">
                <a:solidFill>
                  <a:srgbClr val="4ADE80"/>
                </a:solidFill>
              </a:defRPr>
            </a:pPr>
            <a:r>
              <a:t>[SCREENSHOT COLLAGE: Registration CLI -&gt; QR Code -&gt; Liveness Prompt -&gt; Log Viewer]</a:t>
            </a:r>
          </a:p>
          <a:p>
            <a:pPr>
              <a:spcBef>
                <a:spcPts val="3000"/>
              </a:spcBef>
              <a:defRPr sz="1200">
                <a:solidFill>
                  <a:srgbClr val="94A3B8"/>
                </a:solidFill>
              </a:defRPr>
            </a:pPr>
            <a:r>
              <a:t>Key Artifact:</a:t>
            </a:r>
            <a:br/>
            <a:r>
              <a:t>Report Ch. 9</a:t>
            </a:r>
            <a:br/>
            <a:r>
              <a:t>Status: Verified PASS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00584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100" b="1">
                <a:solidFill>
                  <a:srgbClr val="38BDF8"/>
                </a:solidFill>
              </a:defRPr>
            </a:pPr>
            <a:r>
              <a:t>SLIDE 14 | LAB ACCESS LOCK SYSTEM</a:t>
            </a:r>
          </a:p>
          <a:p>
            <a:pPr>
              <a:defRPr sz="2200" b="1">
                <a:solidFill>
                  <a:srgbClr val="F1F5F9"/>
                </a:solidFill>
              </a:defRPr>
            </a:pPr>
            <a:r>
              <a:t>Limitations &amp; Future Hardening</a:t>
            </a:r>
          </a:p>
        </p:txBody>
      </p:sp>
      <p:sp>
        <p:nvSpPr>
          <p:cNvPr id="4" name="Rounded Rectangle 3"/>
          <p:cNvSpPr/>
          <p:nvPr/>
        </p:nvSpPr>
        <p:spPr>
          <a:xfrm>
            <a:off x="731520" y="1645920"/>
            <a:ext cx="7132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200"/>
              </a:spcAft>
              <a:defRPr sz="1500">
                <a:solidFill>
                  <a:srgbClr val="F1F5F9"/>
                </a:solidFill>
              </a:defRPr>
            </a:pPr>
            <a:r>
              <a:t>•  2D Webcam Constraint: Standard RGB webcams lack active infrared structured light, making them theoretically vulnerable to 3D silicone masks.</a:t>
            </a:r>
          </a:p>
          <a:p>
            <a:pPr>
              <a:spcAft>
                <a:spcPts val="1200"/>
              </a:spcAft>
              <a:defRPr sz="1500">
                <a:solidFill>
                  <a:srgbClr val="F1F5F9"/>
                </a:solidFill>
              </a:defRPr>
            </a:pPr>
            <a:r>
              <a:t>•  Local Root Access Axiom: An administrator with root access can dump memory; mitigated by OS Keyring against offline database theft.</a:t>
            </a:r>
          </a:p>
          <a:p>
            <a:pPr>
              <a:spcAft>
                <a:spcPts val="1200"/>
              </a:spcAft>
              <a:defRPr sz="1500">
                <a:solidFill>
                  <a:srgbClr val="F1F5F9"/>
                </a:solidFill>
              </a:defRPr>
            </a:pPr>
            <a:r>
              <a:t>•  Local Chain Recomputation: Root administrator could recompute the local chain; mitigated in enterprise by external RFC 3161 ledger anchoring.</a:t>
            </a:r>
          </a:p>
          <a:p>
            <a:pPr>
              <a:spcAft>
                <a:spcPts val="1200"/>
              </a:spcAft>
              <a:defRPr sz="1500">
                <a:solidFill>
                  <a:srgbClr val="F1F5F9"/>
                </a:solidFill>
              </a:defRPr>
            </a:pPr>
            <a:r>
              <a:t>•  Future Work: Intel RealSense IR depth integration, dynamic risk-adaptive verification intervals, and automated key rotation.</a:t>
            </a:r>
          </a:p>
        </p:txBody>
      </p:sp>
      <p:sp>
        <p:nvSpPr>
          <p:cNvPr id="5" name="Rounded Rectangle 4"/>
          <p:cNvSpPr/>
          <p:nvPr/>
        </p:nvSpPr>
        <p:spPr>
          <a:xfrm>
            <a:off x="8046720" y="1645920"/>
            <a:ext cx="3413455" cy="4572000"/>
          </a:xfrm>
          <a:prstGeom prst="roundRect">
            <a:avLst/>
          </a:prstGeom>
          <a:solidFill>
            <a:srgbClr val="1820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200" b="1">
                <a:solidFill>
                  <a:srgbClr val="38BDF8"/>
                </a:solidFill>
              </a:defRPr>
            </a:pPr>
            <a:r>
              <a:t>VISUAL EVIDENCE</a:t>
            </a:r>
          </a:p>
          <a:p>
            <a:pPr>
              <a:spcBef>
                <a:spcPts val="2000"/>
              </a:spcBef>
              <a:defRPr sz="1400">
                <a:solidFill>
                  <a:srgbClr val="4ADE80"/>
                </a:solidFill>
              </a:defRPr>
            </a:pPr>
            <a:r>
              <a:t>[FUTURE WORK ROADMAP: Hardware IR Sensors -&gt; RFC 3161 Anchoring -&gt; Dynamic Intervals]</a:t>
            </a:r>
          </a:p>
          <a:p>
            <a:pPr>
              <a:spcBef>
                <a:spcPts val="3000"/>
              </a:spcBef>
              <a:defRPr sz="1200">
                <a:solidFill>
                  <a:srgbClr val="94A3B8"/>
                </a:solidFill>
              </a:defRPr>
            </a:pPr>
            <a:r>
              <a:t>Key Artifact:</a:t>
            </a:r>
            <a:br/>
            <a:r>
              <a:t>Report Ch. 9</a:t>
            </a:r>
            <a:br/>
            <a:r>
              <a:t>Status: Verified PASS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005840"/>
          </a:xfrm>
          <a:prstGeom prst="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100" b="1">
                <a:solidFill>
                  <a:srgbClr val="38BDF8"/>
                </a:solidFill>
              </a:defRPr>
            </a:pPr>
            <a:r>
              <a:t>SLIDE 15 | LAB ACCESS LOCK SYSTEM</a:t>
            </a:r>
          </a:p>
          <a:p>
            <a:pPr>
              <a:defRPr sz="2200" b="1">
                <a:solidFill>
                  <a:srgbClr val="F1F5F9"/>
                </a:solidFill>
              </a:defRPr>
            </a:pPr>
            <a:r>
              <a:t>Conclusion &amp; Viva Defense</a:t>
            </a:r>
          </a:p>
        </p:txBody>
      </p:sp>
      <p:sp>
        <p:nvSpPr>
          <p:cNvPr id="4" name="Rounded Rectangle 3"/>
          <p:cNvSpPr/>
          <p:nvPr/>
        </p:nvSpPr>
        <p:spPr>
          <a:xfrm>
            <a:off x="731520" y="1645920"/>
            <a:ext cx="71323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200"/>
              </a:spcAft>
              <a:defRPr sz="1500">
                <a:solidFill>
                  <a:srgbClr val="F1F5F9"/>
                </a:solidFill>
              </a:defRPr>
            </a:pPr>
            <a:r>
              <a:t>•  Eliminated Laboratory Insider Threats: Replaced porous login-time trust with continuous zero-trust session governance.</a:t>
            </a:r>
          </a:p>
          <a:p>
            <a:pPr>
              <a:spcAft>
                <a:spcPts val="1200"/>
              </a:spcAft>
              <a:defRPr sz="1500">
                <a:solidFill>
                  <a:srgbClr val="F1F5F9"/>
                </a:solidFill>
              </a:defRPr>
            </a:pPr>
            <a:r>
              <a:t>•  Zero Trust on Commodity Hardware: Built high-assurance security using standard webcams and free open-source Python libraries.</a:t>
            </a:r>
          </a:p>
          <a:p>
            <a:pPr>
              <a:spcAft>
                <a:spcPts val="1200"/>
              </a:spcAft>
              <a:defRPr sz="1500">
                <a:solidFill>
                  <a:srgbClr val="F1F5F9"/>
                </a:solidFill>
              </a:defRPr>
            </a:pPr>
            <a:r>
              <a:t>•  Compliance &amp; Secrets Hygiene: Zero raw image retention (DPDP Act 2023), OS Keyring isolation, and pinned vulnerability-free dependencies.</a:t>
            </a:r>
          </a:p>
          <a:p>
            <a:pPr>
              <a:spcAft>
                <a:spcPts val="1200"/>
              </a:spcAft>
              <a:defRPr sz="1500">
                <a:solidFill>
                  <a:srgbClr val="F1F5F9"/>
                </a:solidFill>
              </a:defRPr>
            </a:pPr>
            <a:r>
              <a:t>•  Thank You: Open for Questions and Technical Discussion.</a:t>
            </a:r>
          </a:p>
        </p:txBody>
      </p:sp>
      <p:sp>
        <p:nvSpPr>
          <p:cNvPr id="5" name="Rounded Rectangle 4"/>
          <p:cNvSpPr/>
          <p:nvPr/>
        </p:nvSpPr>
        <p:spPr>
          <a:xfrm>
            <a:off x="8046720" y="1645920"/>
            <a:ext cx="3413455" cy="4572000"/>
          </a:xfrm>
          <a:prstGeom prst="roundRect">
            <a:avLst/>
          </a:prstGeom>
          <a:solidFill>
            <a:srgbClr val="18202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200" b="1">
                <a:solidFill>
                  <a:srgbClr val="38BDF8"/>
                </a:solidFill>
              </a:defRPr>
            </a:pPr>
            <a:r>
              <a:t>VISUAL EVIDENCE</a:t>
            </a:r>
          </a:p>
          <a:p>
            <a:pPr>
              <a:spcBef>
                <a:spcPts val="2000"/>
              </a:spcBef>
              <a:defRPr sz="1400">
                <a:solidFill>
                  <a:srgbClr val="4ADE80"/>
                </a:solidFill>
              </a:defRPr>
            </a:pPr>
            <a:r>
              <a:t>[SUMMARY BADGES: Zero Trust | 3-Factor Auth | Fail-Closed | Open Source]</a:t>
            </a:r>
          </a:p>
          <a:p>
            <a:pPr>
              <a:spcBef>
                <a:spcPts val="3000"/>
              </a:spcBef>
              <a:defRPr sz="1200">
                <a:solidFill>
                  <a:srgbClr val="94A3B8"/>
                </a:solidFill>
              </a:defRPr>
            </a:pPr>
            <a:r>
              <a:t>Key Artifact:</a:t>
            </a:r>
            <a:br/>
            <a:r>
              <a:t>Report Ch. 9</a:t>
            </a:r>
            <a:br/>
            <a:r>
              <a:t>Status: Verified PASS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